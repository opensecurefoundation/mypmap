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-1540" y="-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94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2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9" indent="-342909" algn="l" defTabSz="91442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8" indent="-285756" algn="l" defTabSz="91442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7" algn="l" defTabSz="91442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1737361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1618491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OPENSECURE FOUNDATION PROJET SYSTÈME </a:t>
            </a:r>
            <a:r>
              <a:rPr lang="en-US" sz="1100" kern="0" spc="300" dirty="0" err="1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d’exploitation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057403"/>
            <a:ext cx="7315200" cy="1234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mypmap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 err="1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Réimplémentation</a:t>
            </a:r>
            <a:r>
              <a:rPr lang="en-US" sz="24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commande </a:t>
            </a:r>
            <a:r>
              <a:rPr lang="en-US" sz="24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pmap</a:t>
            </a:r>
            <a:r>
              <a:rPr lang="en-US" sz="24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langage 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799" y="4251963"/>
            <a:ext cx="2606041" cy="566928"/>
          </a:xfrm>
          <a:prstGeom prst="roundRect">
            <a:avLst>
              <a:gd name="adj" fmla="val 12903"/>
            </a:avLst>
          </a:prstGeom>
          <a:solidFill>
            <a:srgbClr val="0E1417"/>
          </a:solidFill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7" name="Text 5"/>
          <p:cNvSpPr/>
          <p:nvPr/>
        </p:nvSpPr>
        <p:spPr>
          <a:xfrm>
            <a:off x="868681" y="4251963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./mypmap -x 1487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1" y="603504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Présenté à [ Emmanuel NGUIMBUS ] · [ Systeme </a:t>
            </a:r>
            <a:r>
              <a:rPr lang="en-US" sz="1200" dirty="0" err="1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d’exploitation</a:t>
            </a:r>
            <a:r>
              <a:rPr lang="en-US" sz="1200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 · 2026</a:t>
            </a:r>
            <a:endParaRPr lang="en-US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D7DDE7-71CF-1A38-305E-A8896FED9DA4}"/>
              </a:ext>
            </a:extLst>
          </p:cNvPr>
          <p:cNvSpPr txBox="1"/>
          <p:nvPr/>
        </p:nvSpPr>
        <p:spPr>
          <a:xfrm>
            <a:off x="8887971" y="4160521"/>
            <a:ext cx="307848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bg1"/>
                </a:solidFill>
              </a:rPr>
              <a:t>Nom des </a:t>
            </a:r>
            <a:r>
              <a:rPr lang="en-US" sz="2400" b="1" i="1" dirty="0" err="1">
                <a:solidFill>
                  <a:schemeClr val="bg1"/>
                </a:solidFill>
              </a:rPr>
              <a:t>membres</a:t>
            </a:r>
            <a:br>
              <a:rPr lang="en-US" sz="1801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TAGUIWA Boris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ELLA Jenny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BESSIKE Samuel</a:t>
            </a:r>
          </a:p>
          <a:p>
            <a:r>
              <a:rPr lang="en-US" sz="2000" dirty="0">
                <a:solidFill>
                  <a:schemeClr val="bg1"/>
                </a:solidFill>
              </a:rPr>
              <a:t>NGASSA Bradley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TSOFACK Sorel</a:t>
            </a:r>
            <a:endParaRPr lang="fr-CM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2"/>
            <a:ext cx="5349241" cy="1234441"/>
          </a:xfrm>
          <a:prstGeom prst="roundRect">
            <a:avLst>
              <a:gd name="adj" fmla="val 444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6" name="Text 4"/>
          <p:cNvSpPr/>
          <p:nvPr/>
        </p:nvSpPr>
        <p:spPr>
          <a:xfrm>
            <a:off x="932691" y="22128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1" dirty="0"/>
          </a:p>
        </p:txBody>
      </p:sp>
      <p:sp>
        <p:nvSpPr>
          <p:cNvPr id="7" name="Text 5"/>
          <p:cNvSpPr/>
          <p:nvPr/>
        </p:nvSpPr>
        <p:spPr>
          <a:xfrm>
            <a:off x="1801370" y="2267711"/>
            <a:ext cx="3977641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objectif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01370" y="2670052"/>
            <a:ext cx="3977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observer la mémoire d'un processus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19093" y="2011685"/>
            <a:ext cx="5349241" cy="1234441"/>
          </a:xfrm>
          <a:prstGeom prst="roundRect">
            <a:avLst>
              <a:gd name="adj" fmla="val 444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0" name="Text 8"/>
          <p:cNvSpPr/>
          <p:nvPr/>
        </p:nvSpPr>
        <p:spPr>
          <a:xfrm>
            <a:off x="6693411" y="22128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1" dirty="0"/>
          </a:p>
        </p:txBody>
      </p:sp>
      <p:sp>
        <p:nvSpPr>
          <p:cNvPr id="11" name="Text 9"/>
          <p:cNvSpPr/>
          <p:nvPr/>
        </p:nvSpPr>
        <p:spPr>
          <a:xfrm>
            <a:off x="7562093" y="2267716"/>
            <a:ext cx="3977641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source : /proc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62093" y="2670052"/>
            <a:ext cx="3977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la mémoire exposée par le noyau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566162"/>
            <a:ext cx="5349241" cy="1234441"/>
          </a:xfrm>
          <a:prstGeom prst="roundRect">
            <a:avLst>
              <a:gd name="adj" fmla="val 444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4" name="Text 12"/>
          <p:cNvSpPr/>
          <p:nvPr/>
        </p:nvSpPr>
        <p:spPr>
          <a:xfrm>
            <a:off x="932691" y="37673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1" dirty="0"/>
          </a:p>
        </p:txBody>
      </p:sp>
      <p:sp>
        <p:nvSpPr>
          <p:cNvPr id="15" name="Text 13"/>
          <p:cNvSpPr/>
          <p:nvPr/>
        </p:nvSpPr>
        <p:spPr>
          <a:xfrm>
            <a:off x="1801370" y="3822191"/>
            <a:ext cx="3977641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flux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01370" y="4224532"/>
            <a:ext cx="3977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modules, un pipeline de données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19093" y="3566165"/>
            <a:ext cx="5349241" cy="1234441"/>
          </a:xfrm>
          <a:prstGeom prst="roundRect">
            <a:avLst>
              <a:gd name="adj" fmla="val 444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8" name="Text 16"/>
          <p:cNvSpPr/>
          <p:nvPr/>
        </p:nvSpPr>
        <p:spPr>
          <a:xfrm>
            <a:off x="6693411" y="37673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1" dirty="0"/>
          </a:p>
        </p:txBody>
      </p:sp>
      <p:sp>
        <p:nvSpPr>
          <p:cNvPr id="19" name="Text 17"/>
          <p:cNvSpPr/>
          <p:nvPr/>
        </p:nvSpPr>
        <p:spPr>
          <a:xfrm>
            <a:off x="7562093" y="3822196"/>
            <a:ext cx="3977641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&amp; fonctionnalités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62093" y="4224532"/>
            <a:ext cx="3977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mémoire et modes d'affichage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5120642"/>
            <a:ext cx="5349241" cy="1234441"/>
          </a:xfrm>
          <a:prstGeom prst="roundRect">
            <a:avLst>
              <a:gd name="adj" fmla="val 444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22" name="Text 20"/>
          <p:cNvSpPr/>
          <p:nvPr/>
        </p:nvSpPr>
        <p:spPr>
          <a:xfrm>
            <a:off x="932691" y="53218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001" dirty="0"/>
          </a:p>
        </p:txBody>
      </p:sp>
      <p:sp>
        <p:nvSpPr>
          <p:cNvPr id="23" name="Text 21"/>
          <p:cNvSpPr/>
          <p:nvPr/>
        </p:nvSpPr>
        <p:spPr>
          <a:xfrm>
            <a:off x="1801370" y="5376671"/>
            <a:ext cx="3977641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cs typeface="Arial" pitchFamily="34" charset="-120"/>
              </a:rPr>
              <a:t>Demo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01370" y="5779012"/>
            <a:ext cx="3977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</a:t>
            </a:r>
            <a:r>
              <a:rPr lang="en-US" sz="1250" dirty="0" err="1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unitaires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19093" y="5120645"/>
            <a:ext cx="5349241" cy="1234441"/>
          </a:xfrm>
          <a:prstGeom prst="roundRect">
            <a:avLst>
              <a:gd name="adj" fmla="val 444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26" name="Text 24"/>
          <p:cNvSpPr/>
          <p:nvPr/>
        </p:nvSpPr>
        <p:spPr>
          <a:xfrm>
            <a:off x="6693411" y="53218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3001" dirty="0"/>
          </a:p>
        </p:txBody>
      </p:sp>
      <p:sp>
        <p:nvSpPr>
          <p:cNvPr id="27" name="Text 25"/>
          <p:cNvSpPr/>
          <p:nvPr/>
        </p:nvSpPr>
        <p:spPr>
          <a:xfrm>
            <a:off x="7562093" y="5376676"/>
            <a:ext cx="3977641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équipe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62093" y="5779012"/>
            <a:ext cx="39776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Pistes d'évolution et fondation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CONTEXTE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la mémoire d'un processus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828801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programme en cours d'exécution vit dans un </a:t>
            </a: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d'adressage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un ensemble de </a:t>
            </a:r>
            <a:r>
              <a:rPr lang="en-US" sz="1600" dirty="0" err="1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régions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code, données, tas, pile, bibliothèques partagées.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cette organisation est essentiel pour le débogage, l'optimisation et l'analyse de sécurité.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3749044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commande </a:t>
            </a:r>
            <a:r>
              <a:rPr lang="en-US" sz="1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pmap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d'UNIX/Linux révèle cette carte région par région. </a:t>
            </a: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mypmap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reconstruit de zéro.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1353317"/>
            <a:ext cx="3108960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adresses hautes 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1"/>
            <a:ext cx="3108960" cy="2706624"/>
          </a:xfrm>
          <a:prstGeom prst="roundRect">
            <a:avLst>
              <a:gd name="adj" fmla="val 2027"/>
            </a:avLst>
          </a:prstGeom>
          <a:solidFill>
            <a:srgbClr val="10161A"/>
          </a:solidFill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0" name="Text 8"/>
          <p:cNvSpPr/>
          <p:nvPr/>
        </p:nvSpPr>
        <p:spPr>
          <a:xfrm>
            <a:off x="8458204" y="182880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pile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0" y="1828804"/>
            <a:ext cx="7772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4" y="2249425"/>
            <a:ext cx="2834640" cy="0"/>
          </a:xfrm>
          <a:prstGeom prst="line">
            <a:avLst/>
          </a:prstGeom>
          <a:noFill/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3" name="Text 11"/>
          <p:cNvSpPr/>
          <p:nvPr/>
        </p:nvSpPr>
        <p:spPr>
          <a:xfrm>
            <a:off x="8458204" y="22494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 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24160" y="2249428"/>
            <a:ext cx="7772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4" y="2670049"/>
            <a:ext cx="2834640" cy="0"/>
          </a:xfrm>
          <a:prstGeom prst="line">
            <a:avLst/>
          </a:prstGeom>
          <a:noFill/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6" name="Text 14"/>
          <p:cNvSpPr/>
          <p:nvPr/>
        </p:nvSpPr>
        <p:spPr>
          <a:xfrm>
            <a:off x="8458204" y="26700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libc.so.6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24160" y="2670052"/>
            <a:ext cx="7772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4" y="3090673"/>
            <a:ext cx="2834640" cy="0"/>
          </a:xfrm>
          <a:prstGeom prst="line">
            <a:avLst/>
          </a:prstGeom>
          <a:noFill/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9" name="Text 17"/>
          <p:cNvSpPr/>
          <p:nvPr/>
        </p:nvSpPr>
        <p:spPr>
          <a:xfrm>
            <a:off x="8458204" y="30906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tas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424160" y="3090676"/>
            <a:ext cx="7772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66764" y="3511297"/>
            <a:ext cx="2834640" cy="0"/>
          </a:xfrm>
          <a:prstGeom prst="line">
            <a:avLst/>
          </a:prstGeom>
          <a:noFill/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2" name="Text 20"/>
          <p:cNvSpPr/>
          <p:nvPr/>
        </p:nvSpPr>
        <p:spPr>
          <a:xfrm>
            <a:off x="8458204" y="35113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0" y="3511300"/>
            <a:ext cx="7772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66764" y="3931921"/>
            <a:ext cx="2834640" cy="0"/>
          </a:xfrm>
          <a:prstGeom prst="line">
            <a:avLst/>
          </a:prstGeom>
          <a:noFill/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5" name="Text 23"/>
          <p:cNvSpPr/>
          <p:nvPr/>
        </p:nvSpPr>
        <p:spPr>
          <a:xfrm>
            <a:off x="8458204" y="39319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424160" y="3931924"/>
            <a:ext cx="7772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r-xp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517141"/>
            <a:ext cx="3108960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adresses basses 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1" y="635508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mypmap</a:t>
            </a:r>
            <a:endParaRPr lang="en-US" sz="1001" dirty="0"/>
          </a:p>
        </p:txBody>
      </p:sp>
      <p:sp>
        <p:nvSpPr>
          <p:cNvPr id="29" name="Text 27"/>
          <p:cNvSpPr/>
          <p:nvPr/>
        </p:nvSpPr>
        <p:spPr>
          <a:xfrm>
            <a:off x="8229603" y="6355083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OpenSecure Foundation  ·  2026</a:t>
            </a:r>
            <a:endParaRPr lang="en-US" sz="100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OBJECTIF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71" y="868683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Reconstruire pmap à partir de zéro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exercice de programmation système : comprendre le fonctionnement réel de l'outil, puis le réécrire entièrement, sans s'appuyer sur l'implémentation d'origine.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514603"/>
            <a:ext cx="3520441" cy="1371600"/>
          </a:xfrm>
          <a:prstGeom prst="roundRect">
            <a:avLst>
              <a:gd name="adj" fmla="val 4000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7" name="Text 5"/>
          <p:cNvSpPr/>
          <p:nvPr/>
        </p:nvSpPr>
        <p:spPr>
          <a:xfrm>
            <a:off x="932688" y="2743201"/>
            <a:ext cx="29718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Fidélité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172971"/>
            <a:ext cx="29718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Reproduire le comportement et le format de sortie de pmap.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4" y="2514603"/>
            <a:ext cx="3520441" cy="1371600"/>
          </a:xfrm>
          <a:prstGeom prst="roundRect">
            <a:avLst>
              <a:gd name="adj" fmla="val 4000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0" name="Text 8"/>
          <p:cNvSpPr/>
          <p:nvPr/>
        </p:nvSpPr>
        <p:spPr>
          <a:xfrm>
            <a:off x="4709164" y="2743201"/>
            <a:ext cx="29718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pur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4" y="3172971"/>
            <a:ext cx="29718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bibliothèque externe : la libc et /proc suffisent.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11317" y="2514603"/>
            <a:ext cx="3520441" cy="1371600"/>
          </a:xfrm>
          <a:prstGeom prst="roundRect">
            <a:avLst>
              <a:gd name="adj" fmla="val 4000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3" name="Text 11"/>
          <p:cNvSpPr/>
          <p:nvPr/>
        </p:nvSpPr>
        <p:spPr>
          <a:xfrm>
            <a:off x="8485637" y="2743201"/>
            <a:ext cx="29718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85637" y="3172971"/>
            <a:ext cx="29718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modulaire, testé et documenté en français.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160520"/>
            <a:ext cx="10835641" cy="0"/>
          </a:xfrm>
          <a:prstGeom prst="line">
            <a:avLst/>
          </a:prstGeom>
          <a:noFill/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6" name="Text 14"/>
          <p:cNvSpPr/>
          <p:nvPr/>
        </p:nvSpPr>
        <p:spPr>
          <a:xfrm>
            <a:off x="658371" y="4434843"/>
            <a:ext cx="251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601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601" dirty="0"/>
          </a:p>
        </p:txBody>
      </p:sp>
      <p:sp>
        <p:nvSpPr>
          <p:cNvPr id="17" name="Text 15"/>
          <p:cNvSpPr/>
          <p:nvPr/>
        </p:nvSpPr>
        <p:spPr>
          <a:xfrm>
            <a:off x="658371" y="5148072"/>
            <a:ext cx="251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 source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55853" y="4434843"/>
            <a:ext cx="251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601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1" dirty="0"/>
          </a:p>
        </p:txBody>
      </p:sp>
      <p:sp>
        <p:nvSpPr>
          <p:cNvPr id="19" name="Text 17"/>
          <p:cNvSpPr/>
          <p:nvPr/>
        </p:nvSpPr>
        <p:spPr>
          <a:xfrm>
            <a:off x="3355853" y="5148072"/>
            <a:ext cx="251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dépendance externe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53334" y="4434843"/>
            <a:ext cx="251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601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4601" dirty="0"/>
          </a:p>
        </p:txBody>
      </p:sp>
      <p:sp>
        <p:nvSpPr>
          <p:cNvPr id="21" name="Text 19"/>
          <p:cNvSpPr/>
          <p:nvPr/>
        </p:nvSpPr>
        <p:spPr>
          <a:xfrm>
            <a:off x="6053334" y="5148072"/>
            <a:ext cx="251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champs mémoire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50813" y="4434843"/>
            <a:ext cx="251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601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601" dirty="0"/>
          </a:p>
        </p:txBody>
      </p:sp>
      <p:sp>
        <p:nvSpPr>
          <p:cNvPr id="23" name="Text 21"/>
          <p:cNvSpPr/>
          <p:nvPr/>
        </p:nvSpPr>
        <p:spPr>
          <a:xfrm>
            <a:off x="8750813" y="5148072"/>
            <a:ext cx="251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en ligne de commande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LA SOURCE DE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/proc : lire la mémoire du noyau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00203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expose chaque processus dans </a:t>
            </a:r>
            <a:r>
              <a:rPr lang="en-US" sz="16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/proc/PID/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pseudo-système de fichiers. mypmap n'a qu'à </a:t>
            </a:r>
            <a:r>
              <a:rPr lang="en-US" sz="1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des fichiers texte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aucun appel système privilégié.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606040"/>
            <a:ext cx="5349241" cy="1325881"/>
          </a:xfrm>
          <a:prstGeom prst="roundRect">
            <a:avLst>
              <a:gd name="adj" fmla="val 4138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7" name="Text 5"/>
          <p:cNvSpPr/>
          <p:nvPr/>
        </p:nvSpPr>
        <p:spPr>
          <a:xfrm>
            <a:off x="932691" y="28437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</a:t>
            </a:r>
            <a:endParaRPr lang="en-US" sz="1401" dirty="0"/>
          </a:p>
        </p:txBody>
      </p:sp>
      <p:sp>
        <p:nvSpPr>
          <p:cNvPr id="8" name="Text 6"/>
          <p:cNvSpPr/>
          <p:nvPr/>
        </p:nvSpPr>
        <p:spPr>
          <a:xfrm>
            <a:off x="1938531" y="2825496"/>
            <a:ext cx="37947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liste des régions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938531" y="3172971"/>
            <a:ext cx="379476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Adresse, permissions, offset, device, inode et chemin de chaque segment.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19093" y="2606045"/>
            <a:ext cx="5349241" cy="1325881"/>
          </a:xfrm>
          <a:prstGeom prst="roundRect">
            <a:avLst>
              <a:gd name="adj" fmla="val 4138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1" name="Text 9"/>
          <p:cNvSpPr/>
          <p:nvPr/>
        </p:nvSpPr>
        <p:spPr>
          <a:xfrm>
            <a:off x="6693411" y="28437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smaps</a:t>
            </a:r>
            <a:endParaRPr lang="en-US" sz="1401" dirty="0"/>
          </a:p>
        </p:txBody>
      </p:sp>
      <p:sp>
        <p:nvSpPr>
          <p:cNvPr id="12" name="Text 10"/>
          <p:cNvSpPr/>
          <p:nvPr/>
        </p:nvSpPr>
        <p:spPr>
          <a:xfrm>
            <a:off x="7699254" y="2825496"/>
            <a:ext cx="37947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statistiques détaillées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99254" y="3172971"/>
            <a:ext cx="379476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RSS, PSS, pages partagées / privées, swap, HugePages, VmFlags…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224527"/>
            <a:ext cx="5349241" cy="1325881"/>
          </a:xfrm>
          <a:prstGeom prst="roundRect">
            <a:avLst>
              <a:gd name="adj" fmla="val 4138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5" name="Text 13"/>
          <p:cNvSpPr/>
          <p:nvPr/>
        </p:nvSpPr>
        <p:spPr>
          <a:xfrm>
            <a:off x="932691" y="4462273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401" dirty="0"/>
          </a:p>
        </p:txBody>
      </p:sp>
      <p:sp>
        <p:nvSpPr>
          <p:cNvPr id="16" name="Text 14"/>
          <p:cNvSpPr/>
          <p:nvPr/>
        </p:nvSpPr>
        <p:spPr>
          <a:xfrm>
            <a:off x="1938531" y="4443985"/>
            <a:ext cx="37947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nom du processus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938531" y="4791460"/>
            <a:ext cx="379476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 lisible du programme associé au PID.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19093" y="4224532"/>
            <a:ext cx="5349241" cy="1325881"/>
          </a:xfrm>
          <a:prstGeom prst="roundRect">
            <a:avLst>
              <a:gd name="adj" fmla="val 4138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9" name="Text 17"/>
          <p:cNvSpPr/>
          <p:nvPr/>
        </p:nvSpPr>
        <p:spPr>
          <a:xfrm>
            <a:off x="6693411" y="4462273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cmdline</a:t>
            </a:r>
            <a:endParaRPr lang="en-US" sz="1401" dirty="0"/>
          </a:p>
        </p:txBody>
      </p:sp>
      <p:sp>
        <p:nvSpPr>
          <p:cNvPr id="20" name="Text 18"/>
          <p:cNvSpPr/>
          <p:nvPr/>
        </p:nvSpPr>
        <p:spPr>
          <a:xfrm>
            <a:off x="7699254" y="4443985"/>
            <a:ext cx="37947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ligne de commande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99254" y="4791460"/>
            <a:ext cx="379476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 complète avec ses arguments, affichée en en-tête.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1" y="635508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mypmap</a:t>
            </a:r>
            <a:endParaRPr lang="en-US" sz="1001" dirty="0"/>
          </a:p>
        </p:txBody>
      </p:sp>
      <p:sp>
        <p:nvSpPr>
          <p:cNvPr id="23" name="Text 21"/>
          <p:cNvSpPr/>
          <p:nvPr/>
        </p:nvSpPr>
        <p:spPr>
          <a:xfrm>
            <a:off x="8229603" y="6355083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OpenSecure Foundation  ·  2026</a:t>
            </a:r>
            <a:endParaRPr lang="en-US" sz="100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architecture en quatre modules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449929" y="1783086"/>
            <a:ext cx="3291840" cy="868681"/>
          </a:xfrm>
          <a:prstGeom prst="roundRect">
            <a:avLst>
              <a:gd name="adj" fmla="val 7368"/>
            </a:avLst>
          </a:prstGeom>
          <a:solidFill>
            <a:srgbClr val="151B1E"/>
          </a:solidFill>
          <a:ln w="12700">
            <a:solidFill>
              <a:srgbClr val="5EEAD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6" name="Text 4"/>
          <p:cNvSpPr/>
          <p:nvPr/>
        </p:nvSpPr>
        <p:spPr>
          <a:xfrm>
            <a:off x="4449929" y="1947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49929" y="2286005"/>
            <a:ext cx="3291840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Orchestrateur — boucle sur chaque PID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5849" y="2651764"/>
            <a:ext cx="0" cy="411481"/>
          </a:xfrm>
          <a:prstGeom prst="line">
            <a:avLst/>
          </a:prstGeom>
          <a:noFill/>
          <a:ln w="190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9" name="Shape 7"/>
          <p:cNvSpPr/>
          <p:nvPr/>
        </p:nvSpPr>
        <p:spPr>
          <a:xfrm>
            <a:off x="658368" y="3154680"/>
            <a:ext cx="3520441" cy="1463040"/>
          </a:xfrm>
          <a:prstGeom prst="roundRect">
            <a:avLst>
              <a:gd name="adj" fmla="val 4375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0" name="Text 8"/>
          <p:cNvSpPr/>
          <p:nvPr/>
        </p:nvSpPr>
        <p:spPr>
          <a:xfrm>
            <a:off x="658368" y="3355848"/>
            <a:ext cx="3520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options.c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3749041"/>
            <a:ext cx="31546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1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arguments</a:t>
            </a:r>
            <a:endParaRPr lang="en-US" sz="1401" dirty="0"/>
          </a:p>
        </p:txBody>
      </p:sp>
      <p:sp>
        <p:nvSpPr>
          <p:cNvPr id="12" name="Text 10"/>
          <p:cNvSpPr/>
          <p:nvPr/>
        </p:nvSpPr>
        <p:spPr>
          <a:xfrm>
            <a:off x="886970" y="4069083"/>
            <a:ext cx="3063241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courtes &amp; longues, fichiers de configuration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4" y="3154680"/>
            <a:ext cx="3520441" cy="1463040"/>
          </a:xfrm>
          <a:prstGeom prst="roundRect">
            <a:avLst>
              <a:gd name="adj" fmla="val 4375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4" name="Text 12"/>
          <p:cNvSpPr/>
          <p:nvPr/>
        </p:nvSpPr>
        <p:spPr>
          <a:xfrm>
            <a:off x="4434844" y="3355848"/>
            <a:ext cx="3520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procfs.c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4" y="3749041"/>
            <a:ext cx="31546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1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de /proc</a:t>
            </a:r>
            <a:endParaRPr lang="en-US" sz="1401" dirty="0"/>
          </a:p>
        </p:txBody>
      </p:sp>
      <p:sp>
        <p:nvSpPr>
          <p:cNvPr id="16" name="Text 14"/>
          <p:cNvSpPr/>
          <p:nvPr/>
        </p:nvSpPr>
        <p:spPr>
          <a:xfrm>
            <a:off x="4663446" y="4069086"/>
            <a:ext cx="3063241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de maps &amp; smaps vers les structures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11317" y="3154680"/>
            <a:ext cx="3520441" cy="1463040"/>
          </a:xfrm>
          <a:prstGeom prst="roundRect">
            <a:avLst>
              <a:gd name="adj" fmla="val 4375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8" name="Text 16"/>
          <p:cNvSpPr/>
          <p:nvPr/>
        </p:nvSpPr>
        <p:spPr>
          <a:xfrm>
            <a:off x="8211317" y="3355848"/>
            <a:ext cx="3520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format.c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94197" y="3749041"/>
            <a:ext cx="31546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1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Affichage</a:t>
            </a:r>
            <a:endParaRPr lang="en-US" sz="1401" dirty="0"/>
          </a:p>
        </p:txBody>
      </p:sp>
      <p:sp>
        <p:nvSpPr>
          <p:cNvPr id="20" name="Text 18"/>
          <p:cNvSpPr/>
          <p:nvPr/>
        </p:nvSpPr>
        <p:spPr>
          <a:xfrm>
            <a:off x="8439917" y="4069086"/>
            <a:ext cx="3063241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Modes, colonnes et calcul des totaux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5849" y="4617720"/>
            <a:ext cx="0" cy="365760"/>
          </a:xfrm>
          <a:prstGeom prst="line">
            <a:avLst/>
          </a:prstGeom>
          <a:noFill/>
          <a:ln w="190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2" name="Shape 20"/>
          <p:cNvSpPr/>
          <p:nvPr/>
        </p:nvSpPr>
        <p:spPr>
          <a:xfrm>
            <a:off x="3809849" y="5349240"/>
            <a:ext cx="4572000" cy="548640"/>
          </a:xfrm>
          <a:prstGeom prst="roundRect">
            <a:avLst>
              <a:gd name="adj" fmla="val 11667"/>
            </a:avLst>
          </a:prstGeom>
          <a:solidFill>
            <a:srgbClr val="10161A"/>
          </a:solidFill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3" name="Text 21"/>
          <p:cNvSpPr/>
          <p:nvPr/>
        </p:nvSpPr>
        <p:spPr>
          <a:xfrm>
            <a:off x="3809849" y="5349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include/ — interfaces &amp; structures partagées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FLUX DE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noyau à l'écran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4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6" name="Text 4"/>
          <p:cNvSpPr/>
          <p:nvPr/>
        </p:nvSpPr>
        <p:spPr>
          <a:xfrm>
            <a:off x="932688" y="23042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Noyau Linux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999231"/>
            <a:ext cx="27432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la mémoire dans /proc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50214" y="2103124"/>
            <a:ext cx="50292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1" dirty="0"/>
          </a:p>
        </p:txBody>
      </p:sp>
      <p:sp>
        <p:nvSpPr>
          <p:cNvPr id="10" name="Shape 8"/>
          <p:cNvSpPr/>
          <p:nvPr/>
        </p:nvSpPr>
        <p:spPr>
          <a:xfrm>
            <a:off x="4453129" y="2103124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1" name="Text 9"/>
          <p:cNvSpPr/>
          <p:nvPr/>
        </p:nvSpPr>
        <p:spPr>
          <a:xfrm>
            <a:off x="4727449" y="23042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7449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&amp; analyse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7449" y="2999236"/>
            <a:ext cx="27432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Découpage ligne par ligne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44973" y="2103124"/>
            <a:ext cx="50292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1" dirty="0"/>
          </a:p>
        </p:txBody>
      </p:sp>
      <p:sp>
        <p:nvSpPr>
          <p:cNvPr id="15" name="Shape 13"/>
          <p:cNvSpPr/>
          <p:nvPr/>
        </p:nvSpPr>
        <p:spPr>
          <a:xfrm>
            <a:off x="8247888" y="2103124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6" name="Text 14"/>
          <p:cNvSpPr/>
          <p:nvPr/>
        </p:nvSpPr>
        <p:spPr>
          <a:xfrm>
            <a:off x="8522208" y="23042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22208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mémoire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2208" y="2999236"/>
            <a:ext cx="27432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dynamique de régions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3977643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20" name="Text 18"/>
          <p:cNvSpPr/>
          <p:nvPr/>
        </p:nvSpPr>
        <p:spPr>
          <a:xfrm>
            <a:off x="932688" y="417881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480561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Enrichissement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4873752"/>
            <a:ext cx="27432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 des statistiques smaps si demandé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50214" y="3977643"/>
            <a:ext cx="50292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1" dirty="0"/>
          </a:p>
        </p:txBody>
      </p:sp>
      <p:sp>
        <p:nvSpPr>
          <p:cNvPr id="24" name="Shape 22"/>
          <p:cNvSpPr/>
          <p:nvPr/>
        </p:nvSpPr>
        <p:spPr>
          <a:xfrm>
            <a:off x="4453129" y="3977643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25" name="Text 23"/>
          <p:cNvSpPr/>
          <p:nvPr/>
        </p:nvSpPr>
        <p:spPr>
          <a:xfrm>
            <a:off x="4727449" y="417881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9" y="4480561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forme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27449" y="4873757"/>
            <a:ext cx="27432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 du mode d'affichage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44973" y="3977643"/>
            <a:ext cx="50292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1" dirty="0"/>
          </a:p>
        </p:txBody>
      </p:sp>
      <p:sp>
        <p:nvSpPr>
          <p:cNvPr id="29" name="Shape 27"/>
          <p:cNvSpPr/>
          <p:nvPr/>
        </p:nvSpPr>
        <p:spPr>
          <a:xfrm>
            <a:off x="8247888" y="3977643"/>
            <a:ext cx="3291840" cy="1371600"/>
          </a:xfrm>
          <a:prstGeom prst="roundRect">
            <a:avLst>
              <a:gd name="adj" fmla="val 4667"/>
            </a:avLst>
          </a:prstGeom>
          <a:solidFill>
            <a:srgbClr val="0F2A2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30" name="Text 28"/>
          <p:cNvSpPr/>
          <p:nvPr/>
        </p:nvSpPr>
        <p:spPr>
          <a:xfrm>
            <a:off x="8522208" y="417881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22208" y="4480561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22208" y="4873757"/>
            <a:ext cx="27432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mémoire lisible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927348" y="3474725"/>
            <a:ext cx="548640" cy="50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STRUCTURES DE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Modéliser la carte mémoire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4"/>
            <a:ext cx="3520441" cy="1554480"/>
          </a:xfrm>
          <a:prstGeom prst="roundRect">
            <a:avLst>
              <a:gd name="adj" fmla="val 3529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6" name="Text 4"/>
          <p:cNvSpPr/>
          <p:nvPr/>
        </p:nvSpPr>
        <p:spPr>
          <a:xfrm>
            <a:off x="932688" y="2057400"/>
            <a:ext cx="29718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MapEntry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514600"/>
            <a:ext cx="2971801" cy="77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49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</a:t>
            </a:r>
            <a:r>
              <a:rPr lang="en-US" sz="1349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 mémoire</a:t>
            </a:r>
            <a:r>
              <a:rPr lang="en-US" sz="1349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adresses, permissions, device, chemin — plus 24 champs de statistiques.</a:t>
            </a:r>
            <a:endParaRPr lang="en-US" sz="1349" dirty="0"/>
          </a:p>
        </p:txBody>
      </p:sp>
      <p:sp>
        <p:nvSpPr>
          <p:cNvPr id="8" name="Shape 6"/>
          <p:cNvSpPr/>
          <p:nvPr/>
        </p:nvSpPr>
        <p:spPr>
          <a:xfrm>
            <a:off x="4434844" y="1828804"/>
            <a:ext cx="3520441" cy="1554480"/>
          </a:xfrm>
          <a:prstGeom prst="roundRect">
            <a:avLst>
              <a:gd name="adj" fmla="val 3529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9" name="Text 7"/>
          <p:cNvSpPr/>
          <p:nvPr/>
        </p:nvSpPr>
        <p:spPr>
          <a:xfrm>
            <a:off x="4709164" y="2057400"/>
            <a:ext cx="29718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MapList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4" y="2514605"/>
            <a:ext cx="2971801" cy="77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49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349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dynamique</a:t>
            </a:r>
            <a:r>
              <a:rPr lang="en-US" sz="1349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régions, dont la capacité s'agrandit toute seule.</a:t>
            </a:r>
            <a:endParaRPr lang="en-US" sz="1349" dirty="0"/>
          </a:p>
        </p:txBody>
      </p:sp>
      <p:sp>
        <p:nvSpPr>
          <p:cNvPr id="11" name="Shape 9"/>
          <p:cNvSpPr/>
          <p:nvPr/>
        </p:nvSpPr>
        <p:spPr>
          <a:xfrm>
            <a:off x="8211317" y="1828804"/>
            <a:ext cx="3520441" cy="1554480"/>
          </a:xfrm>
          <a:prstGeom prst="roundRect">
            <a:avLst>
              <a:gd name="adj" fmla="val 3529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2" name="Text 10"/>
          <p:cNvSpPr/>
          <p:nvPr/>
        </p:nvSpPr>
        <p:spPr>
          <a:xfrm>
            <a:off x="8485637" y="2057400"/>
            <a:ext cx="29718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ProcInfo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85637" y="2514605"/>
            <a:ext cx="2971801" cy="77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49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</a:t>
            </a:r>
            <a:r>
              <a:rPr lang="en-US" sz="1349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</a:t>
            </a:r>
            <a:r>
              <a:rPr lang="en-US" sz="1349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 processus : PID, nom et ligne de commande.</a:t>
            </a:r>
            <a:endParaRPr lang="en-US" sz="1349" dirty="0"/>
          </a:p>
        </p:txBody>
      </p:sp>
      <p:sp>
        <p:nvSpPr>
          <p:cNvPr id="14" name="Shape 12"/>
          <p:cNvSpPr/>
          <p:nvPr/>
        </p:nvSpPr>
        <p:spPr>
          <a:xfrm>
            <a:off x="658368" y="3749039"/>
            <a:ext cx="10835641" cy="1143001"/>
          </a:xfrm>
          <a:prstGeom prst="roundRect">
            <a:avLst>
              <a:gd name="adj" fmla="val 4800"/>
            </a:avLst>
          </a:prstGeom>
          <a:solidFill>
            <a:srgbClr val="10161A"/>
          </a:solidFill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5" name="Text 13"/>
          <p:cNvSpPr/>
          <p:nvPr/>
        </p:nvSpPr>
        <p:spPr>
          <a:xfrm>
            <a:off x="932688" y="3950210"/>
            <a:ext cx="10287001" cy="32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Croissance automatique de MapList — la capacité double à chaque saturation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2691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7" name="Shape 15"/>
          <p:cNvSpPr/>
          <p:nvPr/>
        </p:nvSpPr>
        <p:spPr>
          <a:xfrm>
            <a:off x="1170435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8" name="Shape 16"/>
          <p:cNvSpPr/>
          <p:nvPr/>
        </p:nvSpPr>
        <p:spPr>
          <a:xfrm>
            <a:off x="1408179" y="4407412"/>
            <a:ext cx="201168" cy="201168"/>
          </a:xfrm>
          <a:prstGeom prst="rect">
            <a:avLst/>
          </a:prstGeom>
          <a:solidFill>
            <a:srgbClr val="2A3338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9" name="Text 17"/>
          <p:cNvSpPr/>
          <p:nvPr/>
        </p:nvSpPr>
        <p:spPr>
          <a:xfrm>
            <a:off x="1755651" y="4370833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95731" y="4370833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5B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98652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2" name="Shape 20"/>
          <p:cNvSpPr/>
          <p:nvPr/>
        </p:nvSpPr>
        <p:spPr>
          <a:xfrm>
            <a:off x="3136396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3" name="Shape 21"/>
          <p:cNvSpPr/>
          <p:nvPr/>
        </p:nvSpPr>
        <p:spPr>
          <a:xfrm>
            <a:off x="3374140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4" name="Shape 22"/>
          <p:cNvSpPr/>
          <p:nvPr/>
        </p:nvSpPr>
        <p:spPr>
          <a:xfrm>
            <a:off x="3611884" y="4407412"/>
            <a:ext cx="201168" cy="201168"/>
          </a:xfrm>
          <a:prstGeom prst="rect">
            <a:avLst/>
          </a:prstGeom>
          <a:solidFill>
            <a:srgbClr val="2A3338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5" name="Shape 23"/>
          <p:cNvSpPr/>
          <p:nvPr/>
        </p:nvSpPr>
        <p:spPr>
          <a:xfrm>
            <a:off x="3849628" y="4407412"/>
            <a:ext cx="201168" cy="201168"/>
          </a:xfrm>
          <a:prstGeom prst="rect">
            <a:avLst/>
          </a:prstGeom>
          <a:solidFill>
            <a:srgbClr val="2A3338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6" name="Text 24"/>
          <p:cNvSpPr/>
          <p:nvPr/>
        </p:nvSpPr>
        <p:spPr>
          <a:xfrm>
            <a:off x="4197100" y="4370833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37180" y="4370833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5B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40099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29" name="Shape 27"/>
          <p:cNvSpPr/>
          <p:nvPr/>
        </p:nvSpPr>
        <p:spPr>
          <a:xfrm>
            <a:off x="5577843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30" name="Shape 28"/>
          <p:cNvSpPr/>
          <p:nvPr/>
        </p:nvSpPr>
        <p:spPr>
          <a:xfrm>
            <a:off x="5815587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31" name="Shape 29"/>
          <p:cNvSpPr/>
          <p:nvPr/>
        </p:nvSpPr>
        <p:spPr>
          <a:xfrm>
            <a:off x="6053331" y="4407412"/>
            <a:ext cx="201168" cy="201168"/>
          </a:xfrm>
          <a:prstGeom prst="rect">
            <a:avLst/>
          </a:prstGeom>
          <a:solidFill>
            <a:srgbClr val="5EEAD4"/>
          </a:solidFill>
          <a:ln w="635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32" name="Text 30"/>
          <p:cNvSpPr/>
          <p:nvPr/>
        </p:nvSpPr>
        <p:spPr>
          <a:xfrm>
            <a:off x="6400803" y="4370833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…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FONCTIONNALITÉS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modes d'affichage progressifs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71" y="18745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déf.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72768" y="18745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Adresse, taille, permissions, mapping</a:t>
            </a:r>
            <a:endParaRPr lang="en-US" sz="1451" dirty="0"/>
          </a:p>
        </p:txBody>
      </p:sp>
      <p:sp>
        <p:nvSpPr>
          <p:cNvPr id="7" name="Text 5"/>
          <p:cNvSpPr/>
          <p:nvPr/>
        </p:nvSpPr>
        <p:spPr>
          <a:xfrm>
            <a:off x="658371" y="23500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72768" y="235000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Étendu : RSS et pages modifiées</a:t>
            </a:r>
            <a:endParaRPr lang="en-US" sz="1451" dirty="0"/>
          </a:p>
        </p:txBody>
      </p:sp>
      <p:sp>
        <p:nvSpPr>
          <p:cNvPr id="9" name="Text 7"/>
          <p:cNvSpPr/>
          <p:nvPr/>
        </p:nvSpPr>
        <p:spPr>
          <a:xfrm>
            <a:off x="658371" y="282549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72768" y="282549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champs smaps de base</a:t>
            </a:r>
            <a:endParaRPr lang="en-US" sz="1451" dirty="0"/>
          </a:p>
        </p:txBody>
      </p:sp>
      <p:sp>
        <p:nvSpPr>
          <p:cNvPr id="11" name="Text 9"/>
          <p:cNvSpPr/>
          <p:nvPr/>
        </p:nvSpPr>
        <p:spPr>
          <a:xfrm>
            <a:off x="658371" y="330098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72768" y="33009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 : 24 champs du noyau (VmFlags, HugePages…)</a:t>
            </a:r>
            <a:endParaRPr lang="en-US" sz="1451" dirty="0"/>
          </a:p>
        </p:txBody>
      </p:sp>
      <p:sp>
        <p:nvSpPr>
          <p:cNvPr id="13" name="Text 11"/>
          <p:cNvSpPr/>
          <p:nvPr/>
        </p:nvSpPr>
        <p:spPr>
          <a:xfrm>
            <a:off x="658371" y="377647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72768" y="377647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1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: offset, device et inode</a:t>
            </a:r>
            <a:endParaRPr lang="en-US" sz="145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FONCTIONNALITÉS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Personnaliser la sortie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2"/>
            <a:ext cx="5349241" cy="2331721"/>
          </a:xfrm>
          <a:prstGeom prst="roundRect">
            <a:avLst>
              <a:gd name="adj" fmla="val 2353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6" name="Text 4"/>
          <p:cNvSpPr/>
          <p:nvPr/>
        </p:nvSpPr>
        <p:spPr>
          <a:xfrm>
            <a:off x="978410" y="2103121"/>
            <a:ext cx="47091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1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95728" y="2697480"/>
            <a:ext cx="3337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en-têtes et totaux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8412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95728" y="3154680"/>
            <a:ext cx="3337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Afficher le chemin complet des fichiers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78412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lo,hi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95728" y="3611880"/>
            <a:ext cx="3337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Restreindre à une plage d'adresses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93" y="1828805"/>
            <a:ext cx="5349241" cy="2331721"/>
          </a:xfrm>
          <a:prstGeom prst="roundRect">
            <a:avLst>
              <a:gd name="adj" fmla="val 2353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4" name="Text 12"/>
          <p:cNvSpPr/>
          <p:nvPr/>
        </p:nvSpPr>
        <p:spPr>
          <a:xfrm>
            <a:off x="6739133" y="2103121"/>
            <a:ext cx="47091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</a:t>
            </a:r>
            <a:r>
              <a:rPr lang="en-US" sz="1600" b="1" dirty="0" err="1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</a:t>
            </a: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.pmaprc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3913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/ -C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53" y="2697480"/>
            <a:ext cx="3337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les colonnes depuis un fichier de config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39132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/ -N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53" y="3154680"/>
            <a:ext cx="3337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un modèle de configuration prêt à l'emploi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39132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7AA2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colonnes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56453" y="3611880"/>
            <a:ext cx="3337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et ordonner librement les champs affichés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4434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formes </a:t>
            </a:r>
            <a:r>
              <a:rPr lang="en-US" sz="1349" b="1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courtes</a:t>
            </a:r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349" b="1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longues</a:t>
            </a:r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(par ex. </a:t>
            </a:r>
            <a:r>
              <a:rPr lang="en-US" sz="1349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/ --extended</a:t>
            </a:r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sont toutes deux acceptées, et plusieurs PID peuvent être analysés en une seule commande.</a:t>
            </a:r>
            <a:endParaRPr lang="en-US" sz="134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</a:t>
            </a:r>
            <a:r>
              <a:rPr lang="en-US" sz="1100" kern="0" spc="300" dirty="0" err="1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Diagramme</a:t>
            </a:r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Classes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1" y="635508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mypmap</a:t>
            </a:r>
            <a:endParaRPr lang="en-US" sz="1001" dirty="0"/>
          </a:p>
        </p:txBody>
      </p:sp>
      <p:sp>
        <p:nvSpPr>
          <p:cNvPr id="18" name="Text 16"/>
          <p:cNvSpPr/>
          <p:nvPr/>
        </p:nvSpPr>
        <p:spPr>
          <a:xfrm>
            <a:off x="8229603" y="6355083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OpenSecure Foundation  ·  2026</a:t>
            </a:r>
            <a:endParaRPr lang="en-US" sz="1001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F1482F4-58E3-D9D8-8B12-16CBD0BED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628" y="125277"/>
            <a:ext cx="5619652" cy="65041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QUALITÉ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86588" y="2479044"/>
            <a:ext cx="7418832" cy="271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600" dirty="0"/>
          </a:p>
        </p:txBody>
      </p:sp>
      <p:sp>
        <p:nvSpPr>
          <p:cNvPr id="24" name="Text 22"/>
          <p:cNvSpPr/>
          <p:nvPr/>
        </p:nvSpPr>
        <p:spPr>
          <a:xfrm>
            <a:off x="502921" y="635508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mypmap</a:t>
            </a:r>
            <a:endParaRPr lang="en-US" sz="1001" dirty="0"/>
          </a:p>
        </p:txBody>
      </p:sp>
      <p:sp>
        <p:nvSpPr>
          <p:cNvPr id="25" name="Text 23"/>
          <p:cNvSpPr/>
          <p:nvPr/>
        </p:nvSpPr>
        <p:spPr>
          <a:xfrm>
            <a:off x="8229603" y="6355083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OpenSecure Foundation  ·  2026</a:t>
            </a:r>
            <a:endParaRPr lang="en-US" sz="100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ensuite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60020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pistes d'évolution pour aller plus loin que la fidélité à pmap.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377439"/>
            <a:ext cx="10835641" cy="704089"/>
          </a:xfrm>
          <a:prstGeom prst="roundRect">
            <a:avLst>
              <a:gd name="adj" fmla="val 649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7" name="Text 5"/>
          <p:cNvSpPr/>
          <p:nvPr/>
        </p:nvSpPr>
        <p:spPr>
          <a:xfrm>
            <a:off x="978409" y="2377439"/>
            <a:ext cx="73152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1" dirty="0"/>
          </a:p>
        </p:txBody>
      </p:sp>
      <p:sp>
        <p:nvSpPr>
          <p:cNvPr id="8" name="Text 6"/>
          <p:cNvSpPr/>
          <p:nvPr/>
        </p:nvSpPr>
        <p:spPr>
          <a:xfrm>
            <a:off x="1847088" y="2377439"/>
            <a:ext cx="384048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&amp; regroupement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0453" y="2377444"/>
            <a:ext cx="5349241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Classer les segments par taille ou par type</a:t>
            </a:r>
            <a:endParaRPr lang="en-US" sz="1349" dirty="0"/>
          </a:p>
        </p:txBody>
      </p:sp>
      <p:sp>
        <p:nvSpPr>
          <p:cNvPr id="10" name="Shape 8"/>
          <p:cNvSpPr/>
          <p:nvPr/>
        </p:nvSpPr>
        <p:spPr>
          <a:xfrm>
            <a:off x="658368" y="3246120"/>
            <a:ext cx="10835641" cy="704089"/>
          </a:xfrm>
          <a:prstGeom prst="roundRect">
            <a:avLst>
              <a:gd name="adj" fmla="val 649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1" name="Text 9"/>
          <p:cNvSpPr/>
          <p:nvPr/>
        </p:nvSpPr>
        <p:spPr>
          <a:xfrm>
            <a:off x="978409" y="3246120"/>
            <a:ext cx="73152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1" dirty="0"/>
          </a:p>
        </p:txBody>
      </p:sp>
      <p:sp>
        <p:nvSpPr>
          <p:cNvPr id="12" name="Text 10"/>
          <p:cNvSpPr/>
          <p:nvPr/>
        </p:nvSpPr>
        <p:spPr>
          <a:xfrm>
            <a:off x="1847088" y="3246120"/>
            <a:ext cx="384048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structuré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0453" y="3246125"/>
            <a:ext cx="5349241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JSON / CSV pour l'analyse automatisée</a:t>
            </a:r>
            <a:endParaRPr lang="en-US" sz="1349" dirty="0"/>
          </a:p>
        </p:txBody>
      </p:sp>
      <p:sp>
        <p:nvSpPr>
          <p:cNvPr id="14" name="Shape 12"/>
          <p:cNvSpPr/>
          <p:nvPr/>
        </p:nvSpPr>
        <p:spPr>
          <a:xfrm>
            <a:off x="658368" y="4114799"/>
            <a:ext cx="10835641" cy="704089"/>
          </a:xfrm>
          <a:prstGeom prst="roundRect">
            <a:avLst>
              <a:gd name="adj" fmla="val 649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5" name="Text 13"/>
          <p:cNvSpPr/>
          <p:nvPr/>
        </p:nvSpPr>
        <p:spPr>
          <a:xfrm>
            <a:off x="978409" y="4114799"/>
            <a:ext cx="73152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1" dirty="0"/>
          </a:p>
        </p:txBody>
      </p:sp>
      <p:sp>
        <p:nvSpPr>
          <p:cNvPr id="16" name="Text 14"/>
          <p:cNvSpPr/>
          <p:nvPr/>
        </p:nvSpPr>
        <p:spPr>
          <a:xfrm>
            <a:off x="1847088" y="4114799"/>
            <a:ext cx="384048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Couleurs &amp; interactivité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0453" y="4114804"/>
            <a:ext cx="5349241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facilitée dans le terminal</a:t>
            </a:r>
            <a:endParaRPr lang="en-US" sz="1349" dirty="0"/>
          </a:p>
        </p:txBody>
      </p:sp>
      <p:sp>
        <p:nvSpPr>
          <p:cNvPr id="18" name="Shape 16"/>
          <p:cNvSpPr/>
          <p:nvPr/>
        </p:nvSpPr>
        <p:spPr>
          <a:xfrm>
            <a:off x="658368" y="4983480"/>
            <a:ext cx="10835641" cy="704089"/>
          </a:xfrm>
          <a:prstGeom prst="roundRect">
            <a:avLst>
              <a:gd name="adj" fmla="val 6494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9" name="Text 17"/>
          <p:cNvSpPr/>
          <p:nvPr/>
        </p:nvSpPr>
        <p:spPr>
          <a:xfrm>
            <a:off x="978409" y="4983480"/>
            <a:ext cx="73152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1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1" dirty="0"/>
          </a:p>
        </p:txBody>
      </p:sp>
      <p:sp>
        <p:nvSpPr>
          <p:cNvPr id="20" name="Text 18"/>
          <p:cNvSpPr/>
          <p:nvPr/>
        </p:nvSpPr>
        <p:spPr>
          <a:xfrm>
            <a:off x="1847088" y="4983480"/>
            <a:ext cx="3840480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d'instantanés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70453" y="4983485"/>
            <a:ext cx="5349241" cy="704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49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l'évolution mémoire dans le temps</a:t>
            </a:r>
            <a:endParaRPr lang="en-US" sz="134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594360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4754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ÉQUIPE &amp; FONDATION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868683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OpenSecure Foundation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783083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</a:t>
            </a: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r>
              <a:rPr lang="en-US" sz="1600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développé sous l'égide d'OpenSecure Foundation dans une démarche de transparence et de partage.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71" y="2834644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7" name="Text 5"/>
          <p:cNvSpPr/>
          <p:nvPr/>
        </p:nvSpPr>
        <p:spPr>
          <a:xfrm>
            <a:off x="868681" y="28346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 </a:t>
            </a:r>
            <a:r>
              <a:rPr lang="en-US" sz="1200" dirty="0">
                <a:solidFill>
                  <a:srgbClr val="8A9499"/>
                </a:solidFill>
              </a:rPr>
              <a:t>Licence libre · © 2026 OpenSecure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A94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github.com/OpenSecureFoundation/mypmap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6" y="1691640"/>
            <a:ext cx="4709161" cy="3291840"/>
          </a:xfrm>
          <a:prstGeom prst="roundRect">
            <a:avLst>
              <a:gd name="adj" fmla="val 1667"/>
            </a:avLst>
          </a:prstGeom>
          <a:solidFill>
            <a:srgbClr val="151B1E"/>
          </a:solidFill>
          <a:ln w="12700">
            <a:solidFill>
              <a:srgbClr val="242C3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CM" sz="1801"/>
          </a:p>
        </p:txBody>
      </p:sp>
      <p:sp>
        <p:nvSpPr>
          <p:cNvPr id="10" name="Text 8"/>
          <p:cNvSpPr/>
          <p:nvPr/>
        </p:nvSpPr>
        <p:spPr>
          <a:xfrm>
            <a:off x="7132326" y="2011684"/>
            <a:ext cx="3977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kern="0" spc="201" dirty="0">
                <a:solidFill>
                  <a:srgbClr val="5B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ÉQUIPE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6" y="2468884"/>
            <a:ext cx="3977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Auteur·e·s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6" y="2743201"/>
            <a:ext cx="39776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Groupe 1 ]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2326" y="3227832"/>
            <a:ext cx="3977641" cy="0"/>
          </a:xfrm>
          <a:prstGeom prst="line">
            <a:avLst/>
          </a:prstGeom>
          <a:noFill/>
          <a:ln w="9525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4" name="Text 12"/>
          <p:cNvSpPr/>
          <p:nvPr/>
        </p:nvSpPr>
        <p:spPr>
          <a:xfrm>
            <a:off x="7132326" y="3337563"/>
            <a:ext cx="3977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Encadrant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6" y="3611880"/>
            <a:ext cx="39776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Emmanuel NGUIMBUS 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6" y="4096513"/>
            <a:ext cx="3977641" cy="0"/>
          </a:xfrm>
          <a:prstGeom prst="line">
            <a:avLst/>
          </a:prstGeom>
          <a:noFill/>
          <a:ln w="9525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17" name="Text 15"/>
          <p:cNvSpPr/>
          <p:nvPr/>
        </p:nvSpPr>
        <p:spPr>
          <a:xfrm>
            <a:off x="7132326" y="4206244"/>
            <a:ext cx="39776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8A94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6" y="4480561"/>
            <a:ext cx="39776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Systeme </a:t>
            </a:r>
            <a:r>
              <a:rPr lang="en-US" sz="1600" b="1" dirty="0" err="1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d’exploitation</a:t>
            </a:r>
            <a:r>
              <a:rPr lang="en-US" sz="1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]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1" y="2103121"/>
            <a:ext cx="73152" cy="7315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fr-CM" sz="1801"/>
          </a:p>
        </p:txBody>
      </p:sp>
      <p:sp>
        <p:nvSpPr>
          <p:cNvPr id="3" name="Text 1"/>
          <p:cNvSpPr/>
          <p:nvPr/>
        </p:nvSpPr>
        <p:spPr>
          <a:xfrm>
            <a:off x="850393" y="1984251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kern="0" spc="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MYPMAP — OPENSECURE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468884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" y="35204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01" dirty="0">
                <a:solidFill>
                  <a:srgbClr val="C7CF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 Une démonstration en direct ?</a:t>
            </a:r>
            <a:endParaRPr lang="en-US" sz="2201" dirty="0"/>
          </a:p>
        </p:txBody>
      </p:sp>
      <p:sp>
        <p:nvSpPr>
          <p:cNvPr id="6" name="Shape 4"/>
          <p:cNvSpPr/>
          <p:nvPr/>
        </p:nvSpPr>
        <p:spPr>
          <a:xfrm>
            <a:off x="685801" y="4160523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0E1417"/>
          </a:solidFill>
          <a:ln w="12700">
            <a:solidFill>
              <a:srgbClr val="242C30"/>
            </a:solidFill>
            <a:prstDash val="solid"/>
          </a:ln>
        </p:spPr>
        <p:txBody>
          <a:bodyPr/>
          <a:lstStyle/>
          <a:p>
            <a:endParaRPr lang="fr-CM" sz="1801"/>
          </a:p>
        </p:txBody>
      </p:sp>
      <p:sp>
        <p:nvSpPr>
          <p:cNvPr id="7" name="Text 5"/>
          <p:cNvSpPr/>
          <p:nvPr/>
        </p:nvSpPr>
        <p:spPr>
          <a:xfrm>
            <a:off x="868681" y="4160523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500" dirty="0">
                <a:solidFill>
                  <a:srgbClr val="C7CF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mypmap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</TotalTime>
  <Words>927</Words>
  <Application>Microsoft Office PowerPoint</Application>
  <PresentationFormat>Grand écran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mypmap</dc:title>
  <dc:subject>PptxGenJS Presentation</dc:subject>
  <dc:creator>OpenSecure Foundation</dc:creator>
  <cp:lastModifiedBy>Boris Taguiwa</cp:lastModifiedBy>
  <cp:revision>6</cp:revision>
  <dcterms:created xsi:type="dcterms:W3CDTF">2026-06-15T19:39:33Z</dcterms:created>
  <dcterms:modified xsi:type="dcterms:W3CDTF">2026-06-16T05:44:47Z</dcterms:modified>
</cp:coreProperties>
</file>